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73" r:id="rId5"/>
    <p:sldId id="282" r:id="rId6"/>
    <p:sldId id="274" r:id="rId7"/>
    <p:sldId id="275" r:id="rId8"/>
    <p:sldId id="276" r:id="rId9"/>
    <p:sldId id="277" r:id="rId10"/>
    <p:sldId id="278" r:id="rId11"/>
    <p:sldId id="281" r:id="rId12"/>
    <p:sldId id="257" r:id="rId13"/>
    <p:sldId id="258" r:id="rId14"/>
    <p:sldId id="270" r:id="rId15"/>
    <p:sldId id="264" r:id="rId16"/>
    <p:sldId id="259" r:id="rId17"/>
    <p:sldId id="265" r:id="rId18"/>
    <p:sldId id="266" r:id="rId19"/>
    <p:sldId id="267" r:id="rId20"/>
    <p:sldId id="271" r:id="rId21"/>
    <p:sldId id="268" r:id="rId22"/>
    <p:sldId id="284" r:id="rId23"/>
    <p:sldId id="283" r:id="rId24"/>
    <p:sldId id="26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5"/>
        <p:guide pos="37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9" Type="http://schemas.openxmlformats.org/officeDocument/2006/relationships/tags" Target="../tags/tag74.xml"/><Relationship Id="rId18" Type="http://schemas.openxmlformats.org/officeDocument/2006/relationships/image" Target="../media/image31.png"/><Relationship Id="rId17" Type="http://schemas.openxmlformats.org/officeDocument/2006/relationships/image" Target="../media/image30.png"/><Relationship Id="rId16" Type="http://schemas.openxmlformats.org/officeDocument/2006/relationships/image" Target="../media/image29.png"/><Relationship Id="rId15" Type="http://schemas.openxmlformats.org/officeDocument/2006/relationships/image" Target="../media/image28.png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79.xml"/><Relationship Id="rId7" Type="http://schemas.openxmlformats.org/officeDocument/2006/relationships/image" Target="../media/image41.png"/><Relationship Id="rId6" Type="http://schemas.openxmlformats.org/officeDocument/2006/relationships/tags" Target="../tags/tag78.xml"/><Relationship Id="rId5" Type="http://schemas.openxmlformats.org/officeDocument/2006/relationships/image" Target="../media/image40.png"/><Relationship Id="rId4" Type="http://schemas.openxmlformats.org/officeDocument/2006/relationships/tags" Target="../tags/tag77.xml"/><Relationship Id="rId3" Type="http://schemas.openxmlformats.org/officeDocument/2006/relationships/image" Target="../media/image39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image" Target="../media/image43.png"/><Relationship Id="rId16" Type="http://schemas.openxmlformats.org/officeDocument/2006/relationships/image" Target="../media/image29.png"/><Relationship Id="rId15" Type="http://schemas.openxmlformats.org/officeDocument/2006/relationships/image" Target="../media/image30.png"/><Relationship Id="rId14" Type="http://schemas.openxmlformats.org/officeDocument/2006/relationships/image" Target="../media/image28.png"/><Relationship Id="rId13" Type="http://schemas.openxmlformats.org/officeDocument/2006/relationships/image" Target="../media/image25.png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5.xml"/><Relationship Id="rId1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42.png"/><Relationship Id="rId6" Type="http://schemas.openxmlformats.org/officeDocument/2006/relationships/tags" Target="../tags/tag90.xml"/><Relationship Id="rId5" Type="http://schemas.openxmlformats.org/officeDocument/2006/relationships/image" Target="../media/image41.png"/><Relationship Id="rId4" Type="http://schemas.openxmlformats.org/officeDocument/2006/relationships/tags" Target="../tags/tag89.xml"/><Relationship Id="rId3" Type="http://schemas.openxmlformats.org/officeDocument/2006/relationships/image" Target="../media/image40.png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88.xml"/><Relationship Id="rId19" Type="http://schemas.openxmlformats.org/officeDocument/2006/relationships/tags" Target="../tags/tag95.xml"/><Relationship Id="rId18" Type="http://schemas.openxmlformats.org/officeDocument/2006/relationships/image" Target="../media/image48.png"/><Relationship Id="rId17" Type="http://schemas.openxmlformats.org/officeDocument/2006/relationships/image" Target="../media/image47.png"/><Relationship Id="rId16" Type="http://schemas.openxmlformats.org/officeDocument/2006/relationships/tags" Target="../tags/tag94.xml"/><Relationship Id="rId15" Type="http://schemas.openxmlformats.org/officeDocument/2006/relationships/image" Target="../media/image43.png"/><Relationship Id="rId14" Type="http://schemas.openxmlformats.org/officeDocument/2006/relationships/image" Target="../media/image29.png"/><Relationship Id="rId13" Type="http://schemas.openxmlformats.org/officeDocument/2006/relationships/image" Target="../media/image30.png"/><Relationship Id="rId12" Type="http://schemas.openxmlformats.org/officeDocument/2006/relationships/image" Target="../media/image28.png"/><Relationship Id="rId11" Type="http://schemas.openxmlformats.org/officeDocument/2006/relationships/image" Target="../media/image25.png"/><Relationship Id="rId10" Type="http://schemas.openxmlformats.org/officeDocument/2006/relationships/tags" Target="../tags/tag93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35125" y="2628900"/>
            <a:ext cx="7830185" cy="1599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6600">
                <a:latin typeface="Arial" panose="020B0604020202020204" pitchFamily="34" charset="0"/>
                <a:ea typeface="微软雅黑" panose="020B0503020204020204" charset="-122"/>
              </a:rPr>
              <a:t>代码移植与迁移</a:t>
            </a:r>
            <a:endParaRPr lang="zh-CN" altLang="en-US" sz="66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sz="3200">
                <a:latin typeface="Arial" panose="020B0604020202020204" pitchFamily="34" charset="0"/>
                <a:ea typeface="微软雅黑" panose="020B0503020204020204" charset="-122"/>
              </a:rPr>
              <a:t>2026.4.8</a:t>
            </a:r>
            <a:endParaRPr lang="en-US" altLang="zh-CN" sz="3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83740" y="2163445"/>
            <a:ext cx="7830185" cy="11068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6600">
                <a:latin typeface="Arial" panose="020B0604020202020204" pitchFamily="34" charset="0"/>
                <a:ea typeface="微软雅黑" panose="020B0503020204020204" charset="-122"/>
              </a:rPr>
              <a:t>BeyondSWE</a:t>
            </a:r>
            <a:endParaRPr lang="en-US" sz="3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54045" y="3487420"/>
            <a:ext cx="57556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2026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人大高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瓴人工智能学院</a:t>
            </a:r>
            <a:endParaRPr lang="zh-CN" altLang="en-US" sz="32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11503660" cy="55010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动机：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现有的仓库级别的测评基准，主要是以修复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issue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为主，这类基准修改的往往只是在</a:t>
            </a:r>
            <a:r>
              <a:rPr lang="zh-CN" altLang="en-US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单个仓库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中的</a:t>
            </a:r>
            <a:r>
              <a:rPr lang="en-US" altLang="zh-CN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function</a:t>
            </a:r>
            <a:r>
              <a:rPr lang="zh-CN" altLang="en-US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级别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缺乏仓库外的知识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。这与实际的软件开发不符合：开发人员经常需要借鉴其他仓库、论坛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来修改。为此提出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BeyondSWE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基准，增强了</a:t>
            </a:r>
            <a:r>
              <a:rPr lang="zh-CN" altLang="en-US" u="sng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修改范围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和</a:t>
            </a:r>
            <a:r>
              <a:rPr lang="zh-CN" altLang="en-US" u="sng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知识范围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任务设置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：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(1)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跨仓库的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issue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解决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(CrossRepo)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：要求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agents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通过利用外部仓库的解决方式，解决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target repo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的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问题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(2)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领域知识的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issue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解决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(Domain-specific issue resolution,  DomainFix):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要求利用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其他领域的专业知识来解决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target repo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的问题，例如生物知识、几何知识、量子力学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..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(3)</a:t>
            </a:r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依赖驱动迁移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(DepMigrate): 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仓库的依赖发生变化，要求把整个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codebase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迁移，适配新的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依赖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(4)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文档到仓库的生成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(Doc2Repo):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给定一个文档需求，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Agents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要生成一个完整的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仓库。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统计信息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：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总共有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500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instance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，涵盖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246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Github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上的真实仓库。每一个实例包含：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(1)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问题描述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前三个任务是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issue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，最后一个是需求文档，由于是从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pr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找的，因此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rewrite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为</a:t>
            </a:r>
            <a:r>
              <a:rPr lang="en-US" altLang="zh-CN" u="sng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issue</a:t>
            </a:r>
            <a:r>
              <a:rPr lang="zh-CN" altLang="en-US" u="sng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风格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)  (2)Docker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环境配置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 (3)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测试用例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前三个是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Fail2Pass + Pass2Pass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，最后就是单纯的测试用例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)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提出</a:t>
            </a:r>
            <a:r>
              <a:rPr lang="en-US" altLang="zh-CN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baseline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: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SearchSWE,  Agent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框架，利用搜索技能迭代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修改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4264025"/>
            <a:ext cx="5542280" cy="2414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" y="609600"/>
            <a:ext cx="5091430" cy="40335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2750" y="4758690"/>
            <a:ext cx="418782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领域问题解决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任务涉及的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11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种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领域知识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35" y="260350"/>
            <a:ext cx="6346190" cy="3063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90" y="3323590"/>
            <a:ext cx="3733800" cy="27908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71310" y="6275070"/>
            <a:ext cx="36639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微软雅黑" panose="020B0503020204020204" charset="-122"/>
              </a:rPr>
              <a:t>Doc2Pepo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的原始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仓库统计信息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" y="19050"/>
            <a:ext cx="10048240" cy="6626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295" y="47625"/>
            <a:ext cx="6848475" cy="1885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7005" y="1933575"/>
            <a:ext cx="1170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配置环境的时候用了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Agent (Gemini3)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自动化流程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: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docker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中运行命令，迭代交互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修改，运行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f2p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p2p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确保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一致性。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9230" y="2506980"/>
            <a:ext cx="11684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任务构建流程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：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(1)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跨仓库问题解决：收集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中收集包含外部链接的仓库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(3k)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，用自动化环境配置流程过滤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+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人工检查，最终剩下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200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instance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，涵盖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67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个仓库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平均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1.3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个链接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(2)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领域知识问题解决：邀请了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11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个专家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量子力学，材料科学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..)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人工识别对应领域的仓库，环境配置过滤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72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instance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涵盖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12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仓库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(3)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依赖驱动迁移：找出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23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个常见的经常更新的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python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包，收集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，人工检查。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178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instance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，涵盖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120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仓库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(4)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文档生成仓库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: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：收集了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25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年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到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10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月的仓库，并且在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25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年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8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月还有更新，最少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20star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。用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AI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生成需求文档，描述仓库的目的，用途还有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API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细节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(class / function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签名，参数，返回值，描述，仓库结构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。过滤，共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50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个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instance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8900" y="106045"/>
            <a:ext cx="11684000" cy="3752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实验设置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：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1.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给定问题描述，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Agent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生成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patch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，在新的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docker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环境中运行。最大迭代次数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200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，最长上下文是模型自身最大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token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2.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指标：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(1)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前三个任务用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Resolved Rate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同时通过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P2P&amp;F2P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的比率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(2)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最后一个用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Pass Rate(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平均通过测试用例数量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(Almost)Correct Count (Almost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表示超过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90%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测试都通过的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instance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数量，不带括号表示全对的数量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3. baseline: 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(1)OpenHands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Agent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配置两种工具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：运行命令、编辑文件以及结束命令。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(2)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自己提出的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SearchSWE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：在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OpenHands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的基础上配备搜索工具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 (Google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的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SerpAPI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Jina Reader, 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用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DeepSeek-v3.2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总结搜索内容。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4. Models: 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Gemini 3-Pro,  GPT-5.2,  DeepSeek-V3.2, Kimi-K2, GLM-4.7, MiniMax-M2.1, Seed-Coder, Qwen3-Coder+, Qwen3-235B-A22B-Insturct-2507</a:t>
            </a:r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endParaRPr lang="en-US" altLang="zh-CN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7540" y="4613910"/>
            <a:ext cx="3784600" cy="2025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900" y="4926965"/>
            <a:ext cx="57626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SearchSWE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：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根据问题描述，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Agent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调用</a:t>
            </a:r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搜索工具</a:t>
            </a:r>
            <a:r>
              <a:rPr lang="en-US" altLang="zh-CN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/</a:t>
            </a:r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浏览器工具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查找有关解决方式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(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这里用黑名单防止泄露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，然后根据查找信息生成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patch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文件，最后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apply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并且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test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，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  <a:sym typeface="+mn-ea"/>
              </a:rPr>
              <a:t>迭代交互。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" y="164465"/>
            <a:ext cx="6384290" cy="46316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47180" y="1076960"/>
            <a:ext cx="5107305" cy="40913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(1)BeyondSWE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基准还是比较难的，最好的任务也才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45%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解决；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(2)SearchSWE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说明检索和编码之间存在脱节：从任务来看，跨仓库解决问题收益最大，说明检索的有效性；从模型来看，代码模型难以整合有效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检索信息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(3)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有效的检索可以减少试错的交互，减少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成本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(4)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检索的质量比检索的频率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更重要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85" y="4796155"/>
            <a:ext cx="5758180" cy="20618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45" y="86360"/>
            <a:ext cx="6014085" cy="15005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1370965"/>
            <a:ext cx="5831840" cy="46469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330" y="86360"/>
            <a:ext cx="5862320" cy="4561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75765" y="2371725"/>
            <a:ext cx="7830185" cy="11068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6600">
                <a:latin typeface="Arial" panose="020B0604020202020204" pitchFamily="34" charset="0"/>
                <a:ea typeface="微软雅黑" panose="020B0503020204020204" charset="-122"/>
              </a:rPr>
              <a:t>P</a:t>
            </a:r>
            <a:r>
              <a:rPr lang="en-US" sz="6600">
                <a:latin typeface="Arial" panose="020B0604020202020204" pitchFamily="34" charset="0"/>
                <a:ea typeface="微软雅黑" panose="020B0503020204020204" charset="-122"/>
              </a:rPr>
              <a:t>orta-Bench</a:t>
            </a:r>
            <a:endParaRPr lang="en-US" sz="6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92405" y="97155"/>
                <a:ext cx="11503660" cy="2915285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任务描述：</a:t>
                </a:r>
                <a:endParaRPr lang="zh-CN" altLang="en-US" sz="1800" b="1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给定原仓库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的相关信息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 {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,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𝑑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  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</a:t>
                </a:r>
                <a:r>
                  <a:rPr lang="zh-CN" altLang="en-US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迁移需求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𝑞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需要对其中的文件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进行修改。其中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表示原仓库的目录结构，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𝑑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表示仓库的文档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(Readme)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C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表示配置文件，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F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表示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代码文件</a:t>
                </a:r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𝑞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风格与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Github issue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类似，包含：问题描述、使用的最小复现脚本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(minimal script)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、真实行为和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预期行为</a:t>
                </a:r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包含测试文件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(pass2pass)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确保原有功能不变，同时包含针对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𝑞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的新测试文件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(fail2pass)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确保解决需求</a:t>
                </a:r>
                <a:endParaRPr lang="en-US" altLang="zh-CN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endParaRPr lang="en-US" altLang="zh-CN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要求：新的仓库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能够通过所有测试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)</a:t>
                </a:r>
                <a:endParaRPr lang="en-US" altLang="zh-CN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" y="97155"/>
                <a:ext cx="11503660" cy="291528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92405" y="3429000"/>
            <a:ext cx="11503660" cy="29152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动机：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软件迁移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/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移植是非常重要的任务，传统的方式需要人工根据目标环境去修改对应的文件，做大量的测试。需要用自动化的方式去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处理。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现有的基准如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CodeMenv (API, 25-ACL-findings), MigrationBench(Java version)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和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BeyondSWE (API)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主要针对迁移中的</a:t>
            </a:r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部分场景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，而真实的迁移还包含很多场景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</a:t>
            </a:r>
            <a:r>
              <a:rPr lang="zh-CN" altLang="en-US" b="1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这部分做问卷调查</a:t>
            </a:r>
            <a:r>
              <a:rPr lang="en-US" altLang="zh-CN" b="1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/</a:t>
            </a:r>
            <a:r>
              <a:rPr lang="zh-CN" altLang="en-US" b="1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找开源的报告</a:t>
            </a:r>
            <a:r>
              <a:rPr lang="en-US" altLang="zh-CN" b="1">
                <a:solidFill>
                  <a:srgbClr val="FF0000"/>
                </a:solidFill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，例如</a:t>
            </a:r>
            <a:r>
              <a:rPr lang="zh-CN" altLang="en-US" b="1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操作系统的变化、技术栈变化、软件框架变化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带来的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迁移。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  <a:p>
            <a:pPr algn="l"/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针对这些缺失的场景，提出新的基准</a:t>
            </a:r>
            <a:r>
              <a:rPr lang="en-US" altLang="zh-CN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(Porta-Bench)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，用于评测模型在各种丰富的迁移场景下的</a:t>
            </a:r>
            <a:r>
              <a:rPr lang="zh-CN" altLang="en-US">
                <a:latin typeface="Cambria Math" panose="02040503050406030204" charset="0"/>
                <a:ea typeface="微软雅黑" panose="020B0503020204020204" charset="-122"/>
                <a:cs typeface="Cambria Math" panose="02040503050406030204" charset="0"/>
              </a:rPr>
              <a:t>能力。</a:t>
            </a:r>
            <a:endParaRPr lang="zh-CN" altLang="en-US">
              <a:latin typeface="Cambria Math" panose="02040503050406030204" charset="0"/>
              <a:ea typeface="微软雅黑" panose="020B0503020204020204" charset="-122"/>
              <a:cs typeface="Cambria Math" panose="02040503050406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96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0035" y="1363980"/>
            <a:ext cx="626745" cy="62674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6523355" y="1762760"/>
            <a:ext cx="101028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&lt;issue&gt;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Description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200">
                <a:latin typeface="Arial" panose="020B0604020202020204" pitchFamily="34" charset="0"/>
                <a:ea typeface="微软雅黑" panose="020B0503020204020204" charset="-122"/>
              </a:rPr>
              <a:t>&lt;/issue&gt;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2" name="图片 21" descr="测试文件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435" y="2210435"/>
            <a:ext cx="335280" cy="335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7340" y="310515"/>
            <a:ext cx="164719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数据收集流程：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 descr="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367155"/>
            <a:ext cx="723900" cy="723900"/>
          </a:xfrm>
          <a:prstGeom prst="rect">
            <a:avLst/>
          </a:prstGeom>
        </p:spPr>
      </p:pic>
      <p:pic>
        <p:nvPicPr>
          <p:cNvPr id="4" name="图片 3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3385" y="1363980"/>
            <a:ext cx="626745" cy="626745"/>
          </a:xfrm>
          <a:prstGeom prst="rect">
            <a:avLst/>
          </a:prstGeom>
        </p:spPr>
      </p:pic>
      <p:pic>
        <p:nvPicPr>
          <p:cNvPr id="5" name="图片 4" descr="pull-reques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075" y="757555"/>
            <a:ext cx="513080" cy="513080"/>
          </a:xfrm>
          <a:prstGeom prst="rect">
            <a:avLst/>
          </a:prstGeom>
        </p:spPr>
      </p:pic>
      <p:pic>
        <p:nvPicPr>
          <p:cNvPr id="6" name="图片 5" descr="检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200" y="1380490"/>
            <a:ext cx="635000" cy="635000"/>
          </a:xfrm>
          <a:prstGeom prst="rect">
            <a:avLst/>
          </a:prstGeom>
        </p:spPr>
      </p:pic>
      <p:pic>
        <p:nvPicPr>
          <p:cNvPr id="7" name="图片 6" descr="ZS星星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473710"/>
            <a:ext cx="379730" cy="379730"/>
          </a:xfrm>
          <a:prstGeom prst="rect">
            <a:avLst/>
          </a:prstGeom>
        </p:spPr>
      </p:pic>
      <p:pic>
        <p:nvPicPr>
          <p:cNvPr id="9" name="图片 8" descr="测试文件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075" y="1249680"/>
            <a:ext cx="447040" cy="447040"/>
          </a:xfrm>
          <a:prstGeom prst="rect">
            <a:avLst/>
          </a:prstGeom>
        </p:spPr>
      </p:pic>
      <p:pic>
        <p:nvPicPr>
          <p:cNvPr id="10" name="图片 9" descr="测试文件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90" y="2209800"/>
            <a:ext cx="335915" cy="335915"/>
          </a:xfrm>
          <a:prstGeom prst="rect">
            <a:avLst/>
          </a:prstGeom>
        </p:spPr>
      </p:pic>
      <p:pic>
        <p:nvPicPr>
          <p:cNvPr id="12" name="图片 11" descr="加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7185" y="2366645"/>
            <a:ext cx="201295" cy="2012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07340" y="2063115"/>
            <a:ext cx="97472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 b="1" i="1">
                <a:latin typeface="Arial" panose="020B0604020202020204" pitchFamily="34" charset="0"/>
                <a:ea typeface="微软雅黑" panose="020B0503020204020204" charset="-122"/>
              </a:rPr>
              <a:t>Github</a:t>
            </a:r>
            <a:endParaRPr lang="en-US" altLang="zh-CN" sz="18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5895" y="1995170"/>
            <a:ext cx="112204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 b="1" i="1">
                <a:latin typeface="Arial" panose="020B0604020202020204" pitchFamily="34" charset="0"/>
                <a:ea typeface="微软雅黑" panose="020B0503020204020204" charset="-122"/>
              </a:rPr>
              <a:t>Q</a:t>
            </a:r>
            <a:r>
              <a:rPr lang="en-US" altLang="zh-CN" sz="1800" b="1" i="1">
                <a:latin typeface="Arial" panose="020B0604020202020204" pitchFamily="34" charset="0"/>
                <a:ea typeface="微软雅黑" panose="020B0503020204020204" charset="-122"/>
              </a:rPr>
              <a:t>uery</a:t>
            </a:r>
            <a:endParaRPr lang="en-US" altLang="zh-CN" sz="1800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sz="1800" b="1" i="1">
                <a:latin typeface="Arial" panose="020B0604020202020204" pitchFamily="34" charset="0"/>
                <a:ea typeface="微软雅黑" panose="020B0503020204020204" charset="-122"/>
              </a:rPr>
              <a:t>&amp;Collect</a:t>
            </a:r>
            <a:endParaRPr lang="en-US" altLang="zh-CN" sz="18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1163320" y="1638935"/>
            <a:ext cx="437515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875020" y="1233170"/>
            <a:ext cx="179133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 i="1">
                <a:latin typeface="Arial" panose="020B0604020202020204" pitchFamily="34" charset="0"/>
                <a:ea typeface="微软雅黑" panose="020B0503020204020204" charset="-122"/>
              </a:rPr>
              <a:t>Human Check PR </a:t>
            </a:r>
            <a:endParaRPr lang="en-US" altLang="zh-CN" sz="14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58415" y="2005965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Candidate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Repo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2429510" y="1631315"/>
            <a:ext cx="437515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403090" y="792480"/>
            <a:ext cx="10725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Stars &gt;= 5 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16095" y="1687195"/>
            <a:ext cx="15113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Public Licence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791075" y="2362835"/>
            <a:ext cx="288290" cy="3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271645" y="2550160"/>
            <a:ext cx="65024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tests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25670" y="2541270"/>
            <a:ext cx="12065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new </a:t>
            </a:r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tests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6" name="图片 25" descr="人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5195" y="678815"/>
            <a:ext cx="608330" cy="608330"/>
          </a:xfrm>
          <a:prstGeom prst="rect">
            <a:avLst/>
          </a:prstGeom>
        </p:spPr>
      </p:pic>
      <p:pic>
        <p:nvPicPr>
          <p:cNvPr id="27" name="图片 26" descr="检查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8255" y="859155"/>
            <a:ext cx="501650" cy="50165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4194810" y="473075"/>
            <a:ext cx="1590675" cy="2578100"/>
          </a:xfrm>
          <a:prstGeom prst="rect">
            <a:avLst/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666355" y="473710"/>
            <a:ext cx="2084070" cy="2590165"/>
          </a:xfrm>
          <a:prstGeom prst="rect">
            <a:avLst/>
          </a:prstGeom>
          <a:noFill/>
          <a:ln w="25400" cmpd="sng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904230" y="473710"/>
            <a:ext cx="1639570" cy="2578100"/>
          </a:xfrm>
          <a:prstGeom prst="rect">
            <a:avLst/>
          </a:prstGeom>
          <a:noFill/>
          <a:ln w="25400" cmpd="sng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icon_github_issu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8355" y="2296160"/>
            <a:ext cx="321310" cy="321310"/>
          </a:xfrm>
          <a:prstGeom prst="rect">
            <a:avLst/>
          </a:prstGeom>
        </p:spPr>
      </p:pic>
      <p:pic>
        <p:nvPicPr>
          <p:cNvPr id="39" name="图片 38" descr="chatgp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6300" y="1909445"/>
            <a:ext cx="579755" cy="5797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993765" y="2534920"/>
            <a:ext cx="143510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b="1" i="1">
                <a:latin typeface="Arial" panose="020B0604020202020204" pitchFamily="34" charset="0"/>
                <a:ea typeface="微软雅黑" panose="020B0503020204020204" charset="-122"/>
              </a:rPr>
              <a:t>Rewrite Issue &amp; Check</a:t>
            </a:r>
            <a:endParaRPr lang="en-US" altLang="zh-CN" sz="14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6612255" y="1515110"/>
            <a:ext cx="1270" cy="2876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4" name="图片 43" descr="测试文件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2014220"/>
            <a:ext cx="184785" cy="184785"/>
          </a:xfrm>
          <a:prstGeom prst="rect">
            <a:avLst/>
          </a:prstGeom>
        </p:spPr>
      </p:pic>
      <p:pic>
        <p:nvPicPr>
          <p:cNvPr id="45" name="图片 44" descr="加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9665" y="2122805"/>
            <a:ext cx="128905" cy="128905"/>
          </a:xfrm>
          <a:prstGeom prst="rect">
            <a:avLst/>
          </a:prstGeom>
        </p:spPr>
      </p:pic>
      <p:pic>
        <p:nvPicPr>
          <p:cNvPr id="46" name="图片 45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3825" y="1315720"/>
            <a:ext cx="349885" cy="349885"/>
          </a:xfrm>
          <a:prstGeom prst="rect">
            <a:avLst/>
          </a:prstGeom>
        </p:spPr>
      </p:pic>
      <p:cxnSp>
        <p:nvCxnSpPr>
          <p:cNvPr id="48" name="直接箭头连接符 47"/>
          <p:cNvCxnSpPr/>
          <p:nvPr/>
        </p:nvCxnSpPr>
        <p:spPr>
          <a:xfrm>
            <a:off x="8834120" y="1536700"/>
            <a:ext cx="28321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0" name="图片 49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775" y="540385"/>
            <a:ext cx="349885" cy="349885"/>
          </a:xfrm>
          <a:prstGeom prst="rect">
            <a:avLst/>
          </a:prstGeom>
        </p:spPr>
      </p:pic>
      <p:pic>
        <p:nvPicPr>
          <p:cNvPr id="51" name="图片 50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7565" y="540385"/>
            <a:ext cx="349885" cy="34988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8151495" y="505460"/>
            <a:ext cx="339725" cy="368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7858125" y="793750"/>
                <a:ext cx="395605" cy="30670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sz="1400" b="1" i="1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125" y="793750"/>
                <a:ext cx="395605" cy="3067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8465820" y="803275"/>
                <a:ext cx="395605" cy="30670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sz="1400" b="1" i="1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820" y="803275"/>
                <a:ext cx="395605" cy="30670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7743825" y="1586230"/>
                <a:ext cx="395605" cy="30670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sz="1400" b="1" i="1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825" y="1586230"/>
                <a:ext cx="395605" cy="3067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连接符 55"/>
          <p:cNvCxnSpPr/>
          <p:nvPr/>
        </p:nvCxnSpPr>
        <p:spPr>
          <a:xfrm>
            <a:off x="8150860" y="1548130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8220710" y="1465580"/>
            <a:ext cx="635" cy="1587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8317230" y="1595755"/>
            <a:ext cx="65024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b="1" i="1">
                <a:latin typeface="Arial" panose="020B0604020202020204" pitchFamily="34" charset="0"/>
                <a:ea typeface="微软雅黑" panose="020B0503020204020204" charset="-122"/>
              </a:rPr>
              <a:t>tests</a:t>
            </a:r>
            <a:endParaRPr lang="en-US" altLang="zh-CN" sz="12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60" name="图片 59" descr="通过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6855" y="1367155"/>
            <a:ext cx="351155" cy="351155"/>
          </a:xfrm>
          <a:prstGeom prst="rect">
            <a:avLst/>
          </a:prstGeom>
        </p:spPr>
      </p:pic>
      <p:pic>
        <p:nvPicPr>
          <p:cNvPr id="67" name="图片 66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0" y="1890395"/>
            <a:ext cx="349885" cy="349885"/>
          </a:xfrm>
          <a:prstGeom prst="rect">
            <a:avLst/>
          </a:prstGeom>
        </p:spPr>
      </p:pic>
      <p:pic>
        <p:nvPicPr>
          <p:cNvPr id="68" name="图片 67" descr="测试文件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775" y="2015490"/>
            <a:ext cx="172720" cy="172720"/>
          </a:xfrm>
          <a:prstGeom prst="rect">
            <a:avLst/>
          </a:prstGeom>
        </p:spPr>
      </p:pic>
      <p:cxnSp>
        <p:nvCxnSpPr>
          <p:cNvPr id="69" name="直接箭头连接符 68"/>
          <p:cNvCxnSpPr/>
          <p:nvPr/>
        </p:nvCxnSpPr>
        <p:spPr>
          <a:xfrm>
            <a:off x="8886825" y="2122805"/>
            <a:ext cx="28321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8160385" y="2122805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8230235" y="2040255"/>
            <a:ext cx="635" cy="1587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8244840" y="2191385"/>
            <a:ext cx="83121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b="1" i="1">
                <a:latin typeface="Arial" panose="020B0604020202020204" pitchFamily="34" charset="0"/>
                <a:ea typeface="微软雅黑" panose="020B0503020204020204" charset="-122"/>
              </a:rPr>
              <a:t>all tests</a:t>
            </a:r>
            <a:endParaRPr lang="en-US" altLang="zh-CN" sz="12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4" name="图片 73" descr="通过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4320" y="1968500"/>
            <a:ext cx="339725" cy="3397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7752080" y="2167255"/>
                <a:ext cx="395605" cy="30670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sz="1400" b="1" i="1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080" y="2167255"/>
                <a:ext cx="395605" cy="30670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" name="图片 75" descr="测试文件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630" y="2501265"/>
            <a:ext cx="280035" cy="280035"/>
          </a:xfrm>
          <a:prstGeom prst="rect">
            <a:avLst/>
          </a:prstGeom>
        </p:spPr>
      </p:pic>
      <p:pic>
        <p:nvPicPr>
          <p:cNvPr id="77" name="图片 76" descr="加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265" y="2665095"/>
            <a:ext cx="154940" cy="154940"/>
          </a:xfrm>
          <a:prstGeom prst="rect">
            <a:avLst/>
          </a:prstGeom>
        </p:spPr>
      </p:pic>
      <p:pic>
        <p:nvPicPr>
          <p:cNvPr id="78" name="图片 77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430" y="2501265"/>
            <a:ext cx="349885" cy="349885"/>
          </a:xfrm>
          <a:prstGeom prst="rect">
            <a:avLst/>
          </a:prstGeom>
        </p:spPr>
      </p:pic>
      <p:cxnSp>
        <p:nvCxnSpPr>
          <p:cNvPr id="80" name="直接箭头连接符 79"/>
          <p:cNvCxnSpPr/>
          <p:nvPr/>
        </p:nvCxnSpPr>
        <p:spPr>
          <a:xfrm>
            <a:off x="8891905" y="2705735"/>
            <a:ext cx="28321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8165465" y="2705735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>
            <a:off x="8241665" y="2623185"/>
            <a:ext cx="635" cy="1587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8136890" y="2756535"/>
            <a:ext cx="98996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200" b="1" i="1">
                <a:latin typeface="Arial" panose="020B0604020202020204" pitchFamily="34" charset="0"/>
                <a:ea typeface="微软雅黑" panose="020B0503020204020204" charset="-122"/>
              </a:rPr>
              <a:t>new tests</a:t>
            </a:r>
            <a:endParaRPr lang="en-US" altLang="zh-CN" sz="12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本框 84"/>
              <p:cNvSpPr txBox="1"/>
              <p:nvPr/>
            </p:nvSpPr>
            <p:spPr>
              <a:xfrm>
                <a:off x="7757160" y="2769235"/>
                <a:ext cx="395605" cy="30670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sz="1400" b="1" i="1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85" name="文本框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160" y="2769235"/>
                <a:ext cx="395605" cy="3067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6" name="图片 85" descr="测试文件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040" y="1344295"/>
            <a:ext cx="280035" cy="280035"/>
          </a:xfrm>
          <a:prstGeom prst="rect">
            <a:avLst/>
          </a:prstGeom>
        </p:spPr>
      </p:pic>
      <p:pic>
        <p:nvPicPr>
          <p:cNvPr id="88" name="图片 87" descr="失败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99245" y="2562860"/>
            <a:ext cx="288290" cy="288290"/>
          </a:xfrm>
          <a:prstGeom prst="rect">
            <a:avLst/>
          </a:prstGeom>
        </p:spPr>
      </p:pic>
      <p:sp>
        <p:nvSpPr>
          <p:cNvPr id="89" name="左大括号 88"/>
          <p:cNvSpPr/>
          <p:nvPr/>
        </p:nvSpPr>
        <p:spPr>
          <a:xfrm rot="16200000">
            <a:off x="8309610" y="791210"/>
            <a:ext cx="75565" cy="56197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8008620" y="1052195"/>
            <a:ext cx="89535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 i="1">
                <a:latin typeface="Arial" panose="020B0604020202020204" pitchFamily="34" charset="0"/>
                <a:ea typeface="微软雅黑" panose="020B0503020204020204" charset="-122"/>
              </a:rPr>
              <a:t>commits</a:t>
            </a:r>
            <a:endParaRPr lang="en-US" altLang="zh-CN" sz="12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851775" y="544195"/>
            <a:ext cx="1009650" cy="7429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3977005" y="3161030"/>
            <a:ext cx="224472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Conditional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241415" y="3161030"/>
            <a:ext cx="11874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PR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666355" y="3161030"/>
            <a:ext cx="22155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Execution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5" name="右箭头 94"/>
          <p:cNvSpPr/>
          <p:nvPr/>
        </p:nvSpPr>
        <p:spPr>
          <a:xfrm>
            <a:off x="3691255" y="1624330"/>
            <a:ext cx="437515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右箭头 95"/>
          <p:cNvSpPr/>
          <p:nvPr/>
        </p:nvSpPr>
        <p:spPr>
          <a:xfrm>
            <a:off x="9898380" y="1631315"/>
            <a:ext cx="437515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10058400" y="2005965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Target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Repo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00" name="图片 99" descr="符合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51845" y="1734820"/>
            <a:ext cx="371475" cy="371475"/>
          </a:xfrm>
          <a:prstGeom prst="rect">
            <a:avLst/>
          </a:prstGeom>
        </p:spPr>
      </p:pic>
      <p:sp>
        <p:nvSpPr>
          <p:cNvPr id="101" name="文本框 100"/>
          <p:cNvSpPr txBox="1"/>
          <p:nvPr/>
        </p:nvSpPr>
        <p:spPr>
          <a:xfrm>
            <a:off x="249555" y="4079875"/>
            <a:ext cx="8361045" cy="20300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场景设置：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操作系统变化带来的迁移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(OS, Windows, mac, Linux)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语言变化带来的迁移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(py2-py3, cpp-python)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框架变化带来的迁移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(pytorch-tensorflow, Django-Flash, Pandas-Polas)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本框 101"/>
              <p:cNvSpPr txBox="1"/>
              <p:nvPr/>
            </p:nvSpPr>
            <p:spPr>
              <a:xfrm>
                <a:off x="10058400" y="2581275"/>
                <a:ext cx="1570990" cy="40767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zh-CN" sz="1800">
                        <a:latin typeface="Arial" panose="020B0604020202020204" pitchFamily="34" charset="0"/>
                        <a:ea typeface="微软雅黑" panose="020B0503020204020204" charset="-122"/>
                      </a:rPr>
                      <m:t>&lt;</m:t>
                    </m:r>
                    <m:sSubSup>
                      <m:sSubSupPr>
                        <m:ctrlPr>
                          <a:rPr lang="en-US" altLang="zh-CN" sz="1800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800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𝒓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1800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bSup>
                  </m:oMath>
                </a14:m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Arial" panose="020B0604020202020204" pitchFamily="34" charset="0"/>
                        <a:ea typeface="微软雅黑" panose="020B0503020204020204" charset="-122"/>
                      </a:rPr>
                      <m:t> 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&gt;</m:t>
                    </m:r>
                  </m:oMath>
                </a14:m>
                <a:endParaRPr lang="en-US" altLang="zh-CN" sz="1800" b="1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2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2581275"/>
                <a:ext cx="1570990" cy="407670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文本框 104"/>
          <p:cNvSpPr txBox="1"/>
          <p:nvPr/>
        </p:nvSpPr>
        <p:spPr>
          <a:xfrm>
            <a:off x="8649335" y="548640"/>
            <a:ext cx="1282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200" b="1" i="1">
                <a:latin typeface="Arial" panose="020B0604020202020204" pitchFamily="34" charset="0"/>
                <a:ea typeface="微软雅黑" panose="020B0503020204020204" charset="-122"/>
              </a:rPr>
              <a:t>Automated Pepair</a:t>
            </a:r>
            <a:endParaRPr lang="en-US" altLang="zh-CN" sz="1200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sz="1200" b="1" i="1">
                <a:latin typeface="Arial" panose="020B0604020202020204" pitchFamily="34" charset="0"/>
                <a:ea typeface="微软雅黑" panose="020B0503020204020204" charset="-122"/>
              </a:rPr>
              <a:t>&amp; Validation</a:t>
            </a:r>
            <a:endParaRPr lang="en-US" altLang="zh-CN" sz="1200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0815" y="-24765"/>
            <a:ext cx="2118360" cy="3924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</a:rPr>
              <a:t>数据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charset="-122"/>
              </a:rPr>
              <a:t>格式：</a:t>
            </a:r>
            <a:endParaRPr lang="zh-CN" altLang="en-US" sz="20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2132965"/>
            <a:ext cx="2396490" cy="21742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05" y="471170"/>
            <a:ext cx="3209290" cy="1520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05" y="4493260"/>
            <a:ext cx="1931035" cy="2320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705" y="473710"/>
            <a:ext cx="2948305" cy="21634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025" y="2895600"/>
            <a:ext cx="3340735" cy="181356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631315" y="393700"/>
            <a:ext cx="3312795" cy="63671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232400" y="406400"/>
            <a:ext cx="3376295" cy="23444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232400" y="2853055"/>
            <a:ext cx="3376295" cy="19265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5910" y="4940935"/>
            <a:ext cx="1946275" cy="179514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232400" y="4853305"/>
            <a:ext cx="3376295" cy="19069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98650" y="2414270"/>
            <a:ext cx="839533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场景一：</a:t>
            </a:r>
            <a:r>
              <a:rPr lang="en-US" altLang="zh-CN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OS</a:t>
            </a:r>
            <a:r>
              <a:rPr lang="zh-CN" altLang="en-US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变化的迁移</a:t>
            </a:r>
            <a:endParaRPr lang="zh-CN" altLang="en-US" sz="6000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2875" y="78105"/>
            <a:ext cx="11783060" cy="61855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 search query = language: Python, is:pr, cross-platform </a:t>
            </a:r>
            <a:b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</a:b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原始数据收集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4.8k,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条件过滤余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1488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过滤余约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500~600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，运行过滤还在进行，目前收集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27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条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(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目标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150~200+)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人工检查：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(1)PR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描述的修复是否符合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OS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变化的场景，具体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分类如下：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①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support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用户需要将原先适配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source os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的仓库，请求适配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target os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②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filesystem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OS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的路径差异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(windows: C:\\user\\xx, Linux: /home/user/xx)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、大小写敏感、文件锁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③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os_api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原仓库使用的命令是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os-specific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，例如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rm -rf 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不适配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windows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，需要改写为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shutill.rmtree(xx)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④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library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:  Python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的库只能适配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source os (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例如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fcntl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只能适配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Unix)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、库的行为在不同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OS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的变化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(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例如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Numpy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mac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上有精读影响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⑤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tool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仓库所依赖的工具是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os-specific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，例如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jq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无法在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windows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使用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(2)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确定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source os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target os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类型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(3) fail2pass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pass2pass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文件的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位置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(4) PR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改写为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issue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，描述是否清晰，复现脚本是否可行，真是行为和期待行为是否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正确，是否泄露解决思路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github-a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255" y="3849370"/>
            <a:ext cx="857885" cy="8578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3190" y="0"/>
            <a:ext cx="11244580" cy="25387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针对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OS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的运行过滤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测评方式：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采用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Github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的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Action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，执行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CI Tests.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.github/workflows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下的工作流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yml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文件在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push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仓库会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由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action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自动执行所有符合条件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的工作流并报告结果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工作流包含：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(1)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依赖构建：需要的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os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python version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，其他运行环境等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  (2)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测试构建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:  Pytest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框架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如果仓库自带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workflow: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确保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workflow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能够配置好环境、有执行对应的测试、剔除无用工作流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(release...)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否则利用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AI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生成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yml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，确保能够正确执行，执行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测试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085965" y="4594225"/>
            <a:ext cx="1856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G</a:t>
            </a:r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ithub Action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 descr="代码仓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180" y="3849370"/>
            <a:ext cx="626745" cy="6267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572385" y="4486910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Candidate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Repo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68605" y="3920490"/>
            <a:ext cx="2016760" cy="475615"/>
          </a:xfrm>
          <a:prstGeom prst="rect">
            <a:avLst/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249555" y="3968115"/>
            <a:ext cx="224472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Conditional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83260" y="4556125"/>
            <a:ext cx="11874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PR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8605" y="4486910"/>
            <a:ext cx="2016760" cy="475615"/>
          </a:xfrm>
          <a:prstGeom prst="rect">
            <a:avLst/>
          </a:prstGeom>
          <a:noFill/>
          <a:ln w="25400" cmpd="sng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右箭头 94"/>
          <p:cNvSpPr/>
          <p:nvPr/>
        </p:nvSpPr>
        <p:spPr>
          <a:xfrm>
            <a:off x="2406015" y="4186555"/>
            <a:ext cx="437515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yml文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3849370"/>
            <a:ext cx="628015" cy="6280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81450" y="4496435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Validate workflows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3793490" y="4227195"/>
            <a:ext cx="466090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环境配置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750560" y="3023870"/>
            <a:ext cx="458470" cy="458470"/>
          </a:xfrm>
          <a:prstGeom prst="rect">
            <a:avLst/>
          </a:prstGeom>
        </p:spPr>
      </p:pic>
      <p:pic>
        <p:nvPicPr>
          <p:cNvPr id="14" name="图片 13" descr="pytest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668645" y="3968115"/>
            <a:ext cx="669925" cy="669925"/>
          </a:xfrm>
          <a:prstGeom prst="rect">
            <a:avLst/>
          </a:prstGeom>
        </p:spPr>
      </p:pic>
      <p:pic>
        <p:nvPicPr>
          <p:cNvPr id="15" name="图片 14" descr="无效文档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779135" y="4962525"/>
            <a:ext cx="559435" cy="55943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5344160" y="4489450"/>
            <a:ext cx="137541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Test Framwork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5112385" y="3405505"/>
            <a:ext cx="1811655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Runtime Configuration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5323840" y="5424170"/>
            <a:ext cx="137541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Delete invalid workflows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5250180" y="3405505"/>
            <a:ext cx="176530" cy="22904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chatgp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33140" y="5132070"/>
            <a:ext cx="656590" cy="656590"/>
          </a:xfrm>
          <a:prstGeom prst="rect">
            <a:avLst/>
          </a:prstGeom>
        </p:spPr>
      </p:pic>
      <p:cxnSp>
        <p:nvCxnSpPr>
          <p:cNvPr id="22" name="肘形连接符 21"/>
          <p:cNvCxnSpPr>
            <a:stCxn id="20" idx="3"/>
            <a:endCxn id="8" idx="2"/>
          </p:cNvCxnSpPr>
          <p:nvPr/>
        </p:nvCxnSpPr>
        <p:spPr>
          <a:xfrm flipV="1">
            <a:off x="4189730" y="5141595"/>
            <a:ext cx="496570" cy="318770"/>
          </a:xfrm>
          <a:prstGeom prst="bentConnector2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227705" y="5662930"/>
            <a:ext cx="137541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AI assistance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6765925" y="4227195"/>
            <a:ext cx="466090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8689975" y="4293870"/>
            <a:ext cx="648970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 descr="通过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6810" y="3827145"/>
            <a:ext cx="509270" cy="509270"/>
          </a:xfrm>
          <a:prstGeom prst="rect">
            <a:avLst/>
          </a:prstGeom>
        </p:spPr>
      </p:pic>
      <p:pic>
        <p:nvPicPr>
          <p:cNvPr id="97" name="图片 96" descr="代码仓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545" y="3760470"/>
            <a:ext cx="626745" cy="626745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9185910" y="4402455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Target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Repo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00" name="图片 99" descr="符合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9355" y="4131310"/>
            <a:ext cx="371475" cy="371475"/>
          </a:xfrm>
          <a:prstGeom prst="rect">
            <a:avLst/>
          </a:prstGeom>
        </p:spPr>
      </p:pic>
      <p:cxnSp>
        <p:nvCxnSpPr>
          <p:cNvPr id="27" name="肘形连接符 26"/>
          <p:cNvCxnSpPr>
            <a:stCxn id="94" idx="2"/>
            <a:endCxn id="23" idx="2"/>
          </p:cNvCxnSpPr>
          <p:nvPr/>
        </p:nvCxnSpPr>
        <p:spPr>
          <a:xfrm rot="5400000">
            <a:off x="5461318" y="3416618"/>
            <a:ext cx="1007110" cy="4098925"/>
          </a:xfrm>
          <a:prstGeom prst="bentConnector3">
            <a:avLst>
              <a:gd name="adj1" fmla="val 123613"/>
            </a:avLst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8" name="图片 87" descr="失败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4970" y="5132070"/>
            <a:ext cx="374015" cy="374015"/>
          </a:xfrm>
          <a:prstGeom prst="rect">
            <a:avLst/>
          </a:prstGeom>
        </p:spPr>
      </p:pic>
      <p:pic>
        <p:nvPicPr>
          <p:cNvPr id="28" name="图片 27" descr="测试结果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27850" y="5424170"/>
            <a:ext cx="498475" cy="49847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6537325" y="5921375"/>
            <a:ext cx="137541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T</a:t>
            </a:r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est Report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9555" y="3023870"/>
            <a:ext cx="2322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自动化修复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与验证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3190" y="0"/>
                <a:ext cx="11883390" cy="6772275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评估方式：</a:t>
                </a: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en-US" altLang="zh-CN" sz="1800" b="1">
                    <a:latin typeface="Arial" panose="020B0604020202020204" pitchFamily="34" charset="0"/>
                    <a:ea typeface="微软雅黑" panose="020B0503020204020204" charset="-122"/>
                  </a:rPr>
                  <a:t>1. React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: 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多轮对话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 + tool activate (Read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File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, Create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File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, Delete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File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, Edit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File, Finished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)  </a:t>
                </a:r>
                <a:r>
                  <a:rPr lang="en-US" altLang="zh-CN" sz="180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max iteration = 30</a:t>
                </a:r>
                <a:endParaRPr lang="en-US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通过</a:t>
                </a:r>
                <a:r>
                  <a:rPr lang="zh-CN" altLang="en-US" b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检索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获得，格式：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path + content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，检索方式如下：</a:t>
                </a:r>
                <a:endParaRPr lang="en-US" altLang="zh-CN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(1)oracle: </a:t>
                </a:r>
                <a:r>
                  <a:rPr lang="zh-CN" altLang="en-US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所有修改过的非测试文件和非文档文件告诉模型</a:t>
                </a:r>
                <a:endParaRPr lang="zh-CN" altLang="en-US" sz="1800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(2)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BM2.5: 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参考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SWE-Bench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，将原仓库的每一个文件作为语料库，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𝑞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作为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query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检索</a:t>
                </a:r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(3)Priority: 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按照文件名包含的关键字，读取非测试和非文档文件，优先级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: main &gt; run &gt; cli &gt; app &gt; models...</a:t>
                </a:r>
                <a:endParaRPr lang="en-US" altLang="zh-CN" sz="1800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18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(4)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Selective: 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由模型根据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issue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和仓库结构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s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，自行选择读取的文件，</a:t>
                </a:r>
                <a:r>
                  <a:rPr lang="zh-CN" altLang="en-US" b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确保不是测试文件</a:t>
                </a:r>
                <a:endParaRPr lang="en-US" altLang="zh-CN" sz="1800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 {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 ,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𝑑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  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})</m:t>
                    </m:r>
                  </m:oMath>
                </a14:m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𝐼𝑛𝑖𝑡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𝑖𝑛𝑠𝑡𝑟𝑢𝑐𝑡𝑖𝑜𝑛</m:t>
                    </m:r>
                  </m:oMath>
                </a14:m>
                <a:r>
                  <a:rPr lang="en-US" altLang="zh-CN" sz="1800" i="1">
                    <a:latin typeface="Arial" panose="020B0604020202020204" pitchFamily="34" charset="0"/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→ </m:t>
                    </m:r>
                    <m:r>
                      <a:rPr lang="en-US" altLang="zh-CN" sz="18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𝐼𝑛𝑖𝑡</m:t>
                    </m:r>
                    <m:r>
                      <a:rPr lang="en-US" altLang="zh-CN" sz="18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18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𝑆𝑦𝑠𝑡𝑒𝑚</m:t>
                    </m:r>
                    <m:r>
                      <a:rPr lang="en-US" altLang="zh-CN" sz="18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18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𝑝𝑟𝑜𝑚𝑝𝑡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，之后进行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𝑇𝑜𝑢𝑔ℎ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&amp;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𝐴𝑐𝑡𝑖𝑜𝑛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: 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每一次回复要求先进行思考规划，再从上述工具中选择一个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Action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并在本地执行，每次对话加入调用结果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/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测试结果，采用滑动窗口保留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init system prompt + last 2 turns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对话。</a:t>
                </a:r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每次选择</a:t>
                </a:r>
                <a:r>
                  <a:rPr lang="en-US" altLang="zh-CN" sz="1800" b="1">
                    <a:latin typeface="Arial" panose="020B0604020202020204" pitchFamily="34" charset="0"/>
                    <a:ea typeface="微软雅黑" panose="020B0503020204020204" charset="-122"/>
                  </a:rPr>
                  <a:t>Finished()</a:t>
                </a:r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自动测试一次，如果编辑超过</a:t>
                </a:r>
                <a:r>
                  <a:rPr lang="en-US" altLang="zh-CN" sz="1800" b="1">
                    <a:latin typeface="Arial" panose="020B0604020202020204" pitchFamily="34" charset="0"/>
                    <a:ea typeface="微软雅黑" panose="020B0503020204020204" charset="-122"/>
                  </a:rPr>
                  <a:t>10</a:t>
                </a:r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次会自动执行一次</a:t>
                </a: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API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参考：</a:t>
                </a: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(1)ReadFile(filepath=xx) 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读取文本文件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  (2)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DeleteFile(filepath=xx) 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可以删除单个文件或者目录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 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(3)Finished() 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代表模型确认做完了需要的编辑，开始执行测试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(4)CreateFile(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(filepath=xx)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```python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xxx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```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(5)EditFile(filepath=xx) 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允许编辑同一个文件多处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 (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尽量一次性修改完一个文件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)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```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start = xx  end = xx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xxx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  <a:p>
                <a:pPr algn="l"/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```</a:t>
                </a:r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90" y="0"/>
                <a:ext cx="11883390" cy="6772275"/>
              </a:xfrm>
              <a:prstGeom prst="rect">
                <a:avLst/>
              </a:prstGeom>
              <a:blipFill rotWithShape="1">
                <a:blip r:embed="rId1"/>
                <a:stretch>
                  <a:fillRect b="-59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3190" y="0"/>
                <a:ext cx="11883390" cy="6772275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l"/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评估方式：</a:t>
                </a: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en-US" altLang="zh-CN" sz="1800" b="1">
                    <a:latin typeface="Arial" panose="020B0604020202020204" pitchFamily="34" charset="0"/>
                    <a:ea typeface="微软雅黑" panose="020B0503020204020204" charset="-122"/>
                  </a:rPr>
                  <a:t>2. Direct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: </a:t>
                </a:r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 {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 ,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𝑑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  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})</m:t>
                    </m:r>
                  </m:oMath>
                </a14:m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𝐼𝑛𝑖𝑡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𝑖𝑛𝑠𝑡𝑟𝑢𝑐𝑡𝑖𝑜𝑛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→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𝑢𝑠𝑒𝑟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𝑝𝑟𝑜𝑚𝑝𝑡</m:t>
                    </m:r>
                  </m:oMath>
                </a14:m>
                <a:endParaRPr lang="en-US" altLang="zh-CN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模型生成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patch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文件，采用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git apply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应用补丁，然后执行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CI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测试，报告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apply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是否成功，</a:t>
                </a:r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ci</a:t>
                </a:r>
                <a:r>
                  <a:rPr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测试是否成功。</a:t>
                </a:r>
                <a:endParaRPr lang="zh-CN" altLang="en-US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r>
                  <a:rPr lang="zh-CN" altLang="en-US" u="sng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后续可以报告</a:t>
                </a:r>
                <a:r>
                  <a:rPr lang="en-US" altLang="zh-CN" u="sng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resolved@k</a:t>
                </a:r>
                <a:endParaRPr lang="en-US" altLang="zh-CN" u="sng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algn="l"/>
                <a:endParaRPr lang="en-US" altLang="zh-CN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zh-CN" altLang="en-US" sz="1800" b="1">
                    <a:latin typeface="Arial" panose="020B0604020202020204" pitchFamily="34" charset="0"/>
                    <a:ea typeface="微软雅黑" panose="020B0503020204020204" charset="-122"/>
                  </a:rPr>
                  <a:t>目前效果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：</a:t>
                </a: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27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个仓库，采用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React 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成功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9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个，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33% solved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。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Token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s: 4141’1110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，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Runtime: 26h 27m 43s</a:t>
                </a:r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l"/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这里时间比较久，跟思考模型有关系，同时有些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CI</a:t>
                </a:r>
                <a:r>
                  <a:rPr lang="zh-CN" altLang="en-US" sz="1800">
                    <a:latin typeface="Arial" panose="020B0604020202020204" pitchFamily="34" charset="0"/>
                    <a:ea typeface="微软雅黑" panose="020B0503020204020204" charset="-122"/>
                  </a:rPr>
                  <a:t>测试比较久，并发数是</a:t>
                </a:r>
                <a:r>
                  <a:rPr lang="en-US" altLang="zh-CN" sz="1800">
                    <a:latin typeface="Arial" panose="020B0604020202020204" pitchFamily="34" charset="0"/>
                    <a:ea typeface="微软雅黑" panose="020B0503020204020204" charset="-122"/>
                  </a:rPr>
                  <a:t>2</a:t>
                </a:r>
                <a:endParaRPr lang="en-US" altLang="zh-CN" sz="18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90" y="0"/>
                <a:ext cx="11883390" cy="67722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982595"/>
            <a:ext cx="8141335" cy="3046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59090" y="3632835"/>
            <a:ext cx="3695700" cy="156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计划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继续用该方式收集好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数据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完成两种方式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的测评并且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New baseline?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61440" y="3540760"/>
            <a:ext cx="92386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场景三：</a:t>
            </a:r>
            <a:r>
              <a:rPr lang="zh-CN" altLang="en-US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框架变化的迁移</a:t>
            </a:r>
            <a:endParaRPr lang="zh-CN" altLang="en-US" sz="6000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1440" y="1562735"/>
            <a:ext cx="92386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场景二：</a:t>
            </a:r>
            <a:r>
              <a:rPr lang="zh-CN" altLang="en-US" sz="6000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语言变化的迁移</a:t>
            </a:r>
            <a:endParaRPr lang="zh-CN" altLang="en-US" sz="6000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755" y="12700"/>
            <a:ext cx="12021185" cy="23552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从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github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收集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candidate repos (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完成了深度学习有关的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框架，约为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4k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，剩余其他框架和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语言的未收集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执行条件过滤、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过滤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运行过滤：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本地配置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docker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运行。目标：符合要求的每一个场景数量在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150~200+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4.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试验测评：采用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React/Direct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docker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参考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SWE-Bench / RepoTransBench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的代码实现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(1)search query?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哪些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keyword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比较合适？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(2)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人工评估：场景二确定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source language, target language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以及对应的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version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场景三确定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①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source framework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target framework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②框架改变类型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(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暂定：深度学习、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Web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开发和数据分析框架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286625" y="4118610"/>
            <a:ext cx="142367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D</a:t>
            </a:r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ocker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790" y="3373755"/>
            <a:ext cx="626745" cy="6267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626995" y="4011295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Candidate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Repo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3215" y="3444875"/>
            <a:ext cx="2016760" cy="475615"/>
          </a:xfrm>
          <a:prstGeom prst="rect">
            <a:avLst/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304165" y="3492500"/>
            <a:ext cx="224472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Conditional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37870" y="4080510"/>
            <a:ext cx="11874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PR Filter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215" y="4011295"/>
            <a:ext cx="2016760" cy="475615"/>
          </a:xfrm>
          <a:prstGeom prst="rect">
            <a:avLst/>
          </a:prstGeom>
          <a:noFill/>
          <a:ln w="25400" cmpd="sng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右箭头 94"/>
          <p:cNvSpPr/>
          <p:nvPr/>
        </p:nvSpPr>
        <p:spPr>
          <a:xfrm>
            <a:off x="2460625" y="3710940"/>
            <a:ext cx="437515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36060" y="4077970"/>
            <a:ext cx="14090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Image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3848100" y="3751580"/>
            <a:ext cx="466090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环境配置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805170" y="2548255"/>
            <a:ext cx="458470" cy="458470"/>
          </a:xfrm>
          <a:prstGeom prst="rect">
            <a:avLst/>
          </a:prstGeom>
        </p:spPr>
      </p:pic>
      <p:pic>
        <p:nvPicPr>
          <p:cNvPr id="14" name="图片 13" descr="pytest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723255" y="3492500"/>
            <a:ext cx="669925" cy="669925"/>
          </a:xfrm>
          <a:prstGeom prst="rect">
            <a:avLst/>
          </a:prstGeom>
        </p:spPr>
      </p:pic>
      <p:pic>
        <p:nvPicPr>
          <p:cNvPr id="15" name="图片 14" descr="无效文档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833745" y="4486910"/>
            <a:ext cx="559435" cy="55943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398770" y="4013835"/>
            <a:ext cx="137541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Test Framwork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5166995" y="2929890"/>
            <a:ext cx="1811655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Runtime Configuration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5378450" y="4948555"/>
            <a:ext cx="137541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Delete invalid files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5304790" y="2929890"/>
            <a:ext cx="176530" cy="22904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chatgp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7750" y="4656455"/>
            <a:ext cx="656590" cy="656590"/>
          </a:xfrm>
          <a:prstGeom prst="rect">
            <a:avLst/>
          </a:prstGeom>
        </p:spPr>
      </p:pic>
      <p:cxnSp>
        <p:nvCxnSpPr>
          <p:cNvPr id="22" name="肘形连接符 21"/>
          <p:cNvCxnSpPr>
            <a:stCxn id="20" idx="3"/>
            <a:endCxn id="8" idx="2"/>
          </p:cNvCxnSpPr>
          <p:nvPr/>
        </p:nvCxnSpPr>
        <p:spPr>
          <a:xfrm flipV="1">
            <a:off x="4244340" y="4446270"/>
            <a:ext cx="496570" cy="538480"/>
          </a:xfrm>
          <a:prstGeom prst="bentConnector2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282315" y="5187315"/>
            <a:ext cx="137541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AI assistance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6820535" y="3751580"/>
            <a:ext cx="466090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8446770" y="3803015"/>
            <a:ext cx="648970" cy="30035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 descr="通过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3605" y="3336290"/>
            <a:ext cx="509270" cy="509270"/>
          </a:xfrm>
          <a:prstGeom prst="rect">
            <a:avLst/>
          </a:prstGeom>
        </p:spPr>
      </p:pic>
      <p:pic>
        <p:nvPicPr>
          <p:cNvPr id="97" name="图片 96" descr="代码仓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4340" y="3269615"/>
            <a:ext cx="626745" cy="626745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8942705" y="3911600"/>
            <a:ext cx="14090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Target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lang="en-US" altLang="zh-CN" b="1" i="1">
                <a:latin typeface="Arial" panose="020B0604020202020204" pitchFamily="34" charset="0"/>
                <a:ea typeface="微软雅黑" panose="020B0503020204020204" charset="-122"/>
              </a:rPr>
              <a:t>Repo</a:t>
            </a:r>
            <a:endParaRPr lang="en-US" altLang="zh-CN" b="1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00" name="图片 99" descr="符合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6150" y="3640455"/>
            <a:ext cx="371475" cy="371475"/>
          </a:xfrm>
          <a:prstGeom prst="rect">
            <a:avLst/>
          </a:prstGeom>
        </p:spPr>
      </p:pic>
      <p:cxnSp>
        <p:nvCxnSpPr>
          <p:cNvPr id="27" name="肘形连接符 26"/>
          <p:cNvCxnSpPr>
            <a:stCxn id="94" idx="2"/>
            <a:endCxn id="23" idx="2"/>
          </p:cNvCxnSpPr>
          <p:nvPr/>
        </p:nvCxnSpPr>
        <p:spPr>
          <a:xfrm rot="5400000">
            <a:off x="5480685" y="2976245"/>
            <a:ext cx="1007110" cy="4028440"/>
          </a:xfrm>
          <a:prstGeom prst="bentConnector3">
            <a:avLst>
              <a:gd name="adj1" fmla="val 123644"/>
            </a:avLst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8" name="图片 87" descr="失败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9580" y="4656455"/>
            <a:ext cx="374015" cy="374015"/>
          </a:xfrm>
          <a:prstGeom prst="rect">
            <a:avLst/>
          </a:prstGeom>
        </p:spPr>
      </p:pic>
      <p:pic>
        <p:nvPicPr>
          <p:cNvPr id="28" name="图片 27" descr="测试结果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82460" y="4948555"/>
            <a:ext cx="498475" cy="49847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6"/>
            </p:custDataLst>
          </p:nvPr>
        </p:nvSpPr>
        <p:spPr>
          <a:xfrm>
            <a:off x="6591935" y="5445760"/>
            <a:ext cx="137541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T</a:t>
            </a:r>
            <a:r>
              <a:rPr lang="en-US" altLang="zh-CN" sz="1400" i="1">
                <a:latin typeface="Arial" panose="020B0604020202020204" pitchFamily="34" charset="0"/>
                <a:ea typeface="微软雅黑" panose="020B0503020204020204" charset="-122"/>
              </a:rPr>
              <a:t>est Report</a:t>
            </a:r>
            <a:endParaRPr lang="en-US" altLang="zh-CN" sz="1400" i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4" name="图片 3" descr="docker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2980" y="3053080"/>
            <a:ext cx="1050925" cy="1050925"/>
          </a:xfrm>
          <a:prstGeom prst="rect">
            <a:avLst/>
          </a:prstGeom>
        </p:spPr>
      </p:pic>
      <p:pic>
        <p:nvPicPr>
          <p:cNvPr id="10" name="图片 9" descr="容器镜像服务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7215" y="3373755"/>
            <a:ext cx="706755" cy="706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795" y="2638425"/>
            <a:ext cx="2322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自动化修复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与验证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0820" y="525145"/>
            <a:ext cx="3858260" cy="45986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如果没有任何新增的测试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首先分析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的内容，和修改的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代码。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确定和场景变动相关的文件以及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其中的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函数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给定对应文件的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patch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补丁修改和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golden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对应文件中的函数定义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4.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写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yml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test_xx.py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文件，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yml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要求安装依赖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+ pytest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只测试新的测试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文件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格式检查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94580" y="241935"/>
            <a:ext cx="6967220" cy="55079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任务描述</a:t>
            </a:r>
            <a:r>
              <a:rPr lang="en-US" altLang="zh-CN" sz="1600"/>
              <a:t>:</a:t>
            </a:r>
            <a:endParaRPr lang="zh-CN" altLang="en-US" sz="1600"/>
          </a:p>
          <a:p>
            <a:r>
              <a:rPr lang="zh-CN" altLang="en-US" sz="1600"/>
              <a:t>给定一个</a:t>
            </a:r>
            <a:r>
              <a:rPr lang="en-US" altLang="zh-CN" sz="1600"/>
              <a:t>PR</a:t>
            </a:r>
            <a:r>
              <a:rPr lang="zh-CN" altLang="en-US" sz="1600"/>
              <a:t>，该</a:t>
            </a:r>
            <a:r>
              <a:rPr lang="en-US" altLang="zh-CN" sz="1600"/>
              <a:t>PR</a:t>
            </a:r>
            <a:r>
              <a:rPr lang="zh-CN" altLang="en-US" sz="1600"/>
              <a:t>为了解决</a:t>
            </a:r>
            <a:r>
              <a:rPr lang="en-US" altLang="zh-CN" sz="1600"/>
              <a:t>OS</a:t>
            </a:r>
            <a:r>
              <a:rPr lang="zh-CN" altLang="en-US" sz="1600"/>
              <a:t>的兼容问题而修改了一些文件，但是缺乏对这些新增文件的测试。现在给定</a:t>
            </a:r>
            <a:r>
              <a:rPr lang="en-US" altLang="zh-CN" sz="1600"/>
              <a:t>PR</a:t>
            </a:r>
            <a:r>
              <a:rPr lang="zh-CN" altLang="en-US" sz="1600"/>
              <a:t>的内容，有关的修改文件和修改的补丁，请你：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1. </a:t>
            </a:r>
            <a:r>
              <a:rPr lang="zh-CN" altLang="en-US" sz="1600"/>
              <a:t>写一个</a:t>
            </a:r>
            <a:r>
              <a:rPr lang="en-US" altLang="zh-CN" sz="1600"/>
              <a:t>Yml</a:t>
            </a:r>
            <a:r>
              <a:rPr lang="zh-CN" altLang="en-US" sz="1600"/>
              <a:t>文件，该文件</a:t>
            </a:r>
            <a:r>
              <a:rPr lang="en-US" altLang="zh-CN" sz="1600"/>
              <a:t>**</a:t>
            </a:r>
            <a:r>
              <a:rPr lang="zh-CN" altLang="en-US" sz="1600"/>
              <a:t>只在新的</a:t>
            </a:r>
            <a:r>
              <a:rPr lang="en-US" altLang="zh-CN" sz="1600"/>
              <a:t>OS**</a:t>
            </a:r>
            <a:r>
              <a:rPr lang="zh-CN" altLang="en-US" sz="1600"/>
              <a:t>上运行，安装依赖，并且执行</a:t>
            </a:r>
            <a:r>
              <a:rPr lang="en-US" altLang="zh-CN" sz="1600"/>
              <a:t>pytest</a:t>
            </a:r>
            <a:r>
              <a:rPr lang="zh-CN" altLang="en-US" sz="1600"/>
              <a:t>测试，</a:t>
            </a:r>
            <a:r>
              <a:rPr lang="en-US" altLang="zh-CN" sz="1600"/>
              <a:t>**</a:t>
            </a:r>
            <a:r>
              <a:rPr lang="zh-CN" altLang="en-US" sz="1600"/>
              <a:t>只测试新增的测试文件</a:t>
            </a:r>
            <a:r>
              <a:rPr lang="en-US" altLang="zh-CN" sz="1600"/>
              <a:t> test_f2p.py**</a:t>
            </a:r>
            <a:r>
              <a:rPr lang="zh-CN" altLang="en-US" sz="1600"/>
              <a:t>，测试的</a:t>
            </a:r>
            <a:r>
              <a:rPr lang="zh-CN" altLang="en-US" sz="1600"/>
              <a:t>基础指令为：</a:t>
            </a:r>
            <a:r>
              <a:rPr lang="en-US" altLang="zh-CN" sz="1600"/>
              <a:t>pytest test_f2p.py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2. </a:t>
            </a:r>
            <a:r>
              <a:rPr lang="zh-CN" altLang="en-US" sz="1600"/>
              <a:t>写</a:t>
            </a:r>
            <a:r>
              <a:rPr lang="en-US" altLang="zh-CN" sz="1600"/>
              <a:t>test_f2p.py</a:t>
            </a:r>
            <a:r>
              <a:rPr lang="zh-CN" altLang="en-US" sz="1600"/>
              <a:t>文件，测试涉及到的所有函数。确保：修改前的代码</a:t>
            </a:r>
            <a:r>
              <a:rPr lang="en-US" altLang="zh-CN" sz="1600"/>
              <a:t>fail</a:t>
            </a:r>
            <a:r>
              <a:rPr lang="zh-CN" altLang="en-US" sz="1600"/>
              <a:t>，而修改后的代码</a:t>
            </a:r>
            <a:r>
              <a:rPr lang="en-US" altLang="zh-CN" sz="1600"/>
              <a:t>pass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要求：</a:t>
            </a:r>
            <a:endParaRPr lang="zh-CN" altLang="en-US" sz="1600"/>
          </a:p>
          <a:p>
            <a:r>
              <a:rPr lang="zh-CN" altLang="en-US" sz="1600"/>
              <a:t>分析修改前后的代码差异，设计对应</a:t>
            </a:r>
            <a:r>
              <a:rPr lang="en-US" altLang="zh-CN" sz="1600"/>
              <a:t>OS</a:t>
            </a:r>
            <a:r>
              <a:rPr lang="zh-CN" altLang="en-US" sz="1600"/>
              <a:t>相关的测试。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&lt;pr&gt;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&lt;files&gt;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&lt;patch&gt;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&lt;config&gt;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0"/>
            <a:ext cx="7542530" cy="5010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" y="5087620"/>
            <a:ext cx="7915275" cy="16668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755" y="12700"/>
            <a:ext cx="12021185" cy="67170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实验设计：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模型：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GLM-4.7, Claude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主实验：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 Direct (k=30 +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四种检索方式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React (max iteration=30, num_process=2,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固定用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BM2.5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检索初始文件，四种工具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Baseline?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消融实验：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..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分析：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..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参考代码：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porta-bench.zip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完成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任务：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收集对应场景的仓库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前后有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tests, start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数量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&gt; 5, create_time &gt; 2025, license)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人工评估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+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自动化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人工的跑通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测试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3. docker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部署环境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脚本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交付：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dataset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78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79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80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81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82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83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89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90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91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92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93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94.xml><?xml version="1.0" encoding="utf-8"?>
<p:tagLst xmlns:p="http://schemas.openxmlformats.org/presentationml/2006/main">
  <p:tag name="KSO_WM_DIAGRAM_VIRTUALLY_FRAME" val="{&quot;height&quot;:233.85,&quot;left&quot;:402.55,&quot;top&quot;:238.1,&quot;width&quot;:142.65}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6406</Words>
  <Application>WPS 演示</Application>
  <PresentationFormat>宽屏</PresentationFormat>
  <Paragraphs>351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微软雅黑</vt:lpstr>
      <vt:lpstr>Cambria Math</vt:lpstr>
      <vt:lpstr>Arial Unicode MS</vt:lpstr>
      <vt:lpstr>Calibri</vt:lpstr>
      <vt:lpstr>MS Mincho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丨</cp:lastModifiedBy>
  <cp:revision>209</cp:revision>
  <dcterms:created xsi:type="dcterms:W3CDTF">2019-06-19T02:08:00Z</dcterms:created>
  <dcterms:modified xsi:type="dcterms:W3CDTF">2026-04-10T08:56:12Z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4F750DD164A94AF88E81E3C0C5755E16_11</vt:lpwstr>
  </property>
</Properties>
</file>